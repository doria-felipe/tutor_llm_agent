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DFA8"/>
    <a:srgbClr val="50AB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8" d="100"/>
          <a:sy n="138" d="100"/>
        </p:scale>
        <p:origin x="-261" y="-4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b29caa0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0b29caa0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b29caa05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b29caa05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b29caa05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b29caa05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b29caa05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b29caa05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b29caa05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b29caa05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b29caa05f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b29caa05f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2204f83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2204f83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b29caa05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b29caa05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53CABCF9-8203-37EB-E786-64B0507951F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AFACBEA-609A-81E3-4F29-9CFE1F2B5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510" y="949724"/>
            <a:ext cx="2944826" cy="1437476"/>
          </a:xfrm>
          <a:ln w="38100">
            <a:noFill/>
          </a:ln>
        </p:spPr>
        <p:txBody>
          <a:bodyPr>
            <a:noAutofit/>
          </a:bodyPr>
          <a:lstStyle/>
          <a:p>
            <a:r>
              <a:rPr lang="en-AU" sz="5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AVAA German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9806" y="3141925"/>
            <a:ext cx="4790222" cy="10339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dirty="0">
                <a:latin typeface="Bookman Old Style" panose="02050604050505020204" pitchFamily="18" charset="0"/>
              </a:rPr>
              <a:t>Agentic Retrieval Augmented Generation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dirty="0">
                <a:latin typeface="Bookman Old Style" panose="02050604050505020204" pitchFamily="18" charset="0"/>
              </a:rPr>
              <a:t>for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dirty="0">
                <a:latin typeface="Bookman Old Style" panose="02050604050505020204" pitchFamily="18" charset="0"/>
              </a:rPr>
              <a:t>Interactive Language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53335-26D6-0D30-3BC3-1CA2CB005FAD}"/>
              </a:ext>
            </a:extLst>
          </p:cNvPr>
          <p:cNvSpPr txBox="1"/>
          <p:nvPr/>
        </p:nvSpPr>
        <p:spPr>
          <a:xfrm>
            <a:off x="776011" y="2631776"/>
            <a:ext cx="3721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Bookman Old Style" panose="02050604050505020204" pitchFamily="18" charset="0"/>
              </a:rPr>
              <a:t>A Local AI Tutor for German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AF84D1B-E36F-7910-125C-DA52AF93E277}"/>
              </a:ext>
            </a:extLst>
          </p:cNvPr>
          <p:cNvGrpSpPr/>
          <p:nvPr/>
        </p:nvGrpSpPr>
        <p:grpSpPr>
          <a:xfrm>
            <a:off x="5263267" y="188172"/>
            <a:ext cx="3416608" cy="1345654"/>
            <a:chOff x="4923900" y="426516"/>
            <a:chExt cx="3232465" cy="122612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05F857-7363-C238-A4F5-741A73E17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3900" y="593472"/>
              <a:ext cx="846590" cy="846590"/>
            </a:xfrm>
            <a:prstGeom prst="rect">
              <a:avLst/>
            </a:prstGeom>
          </p:spPr>
        </p:pic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658252C0-1C9B-3836-8070-5388EBF841CD}"/>
                </a:ext>
              </a:extLst>
            </p:cNvPr>
            <p:cNvSpPr/>
            <p:nvPr/>
          </p:nvSpPr>
          <p:spPr>
            <a:xfrm>
              <a:off x="5829259" y="922021"/>
              <a:ext cx="309901" cy="25947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C2A104C-53A0-FF02-E4F6-BBE484CB827E}"/>
                </a:ext>
              </a:extLst>
            </p:cNvPr>
            <p:cNvGrpSpPr/>
            <p:nvPr/>
          </p:nvGrpSpPr>
          <p:grpSpPr>
            <a:xfrm>
              <a:off x="6237531" y="426516"/>
              <a:ext cx="1918834" cy="1226127"/>
              <a:chOff x="6237531" y="426516"/>
              <a:chExt cx="1918834" cy="122612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596F645-095D-0C04-802A-3DD78176C6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4362" y="656124"/>
                <a:ext cx="877650" cy="877650"/>
              </a:xfrm>
              <a:prstGeom prst="rect">
                <a:avLst/>
              </a:prstGeom>
            </p:spPr>
          </p:pic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8967A15-C65A-F0F5-22D9-6B613DD5D80D}"/>
                  </a:ext>
                </a:extLst>
              </p:cNvPr>
              <p:cNvGrpSpPr/>
              <p:nvPr/>
            </p:nvGrpSpPr>
            <p:grpSpPr>
              <a:xfrm>
                <a:off x="7298910" y="687350"/>
                <a:ext cx="785651" cy="735273"/>
                <a:chOff x="5155674" y="1526373"/>
                <a:chExt cx="999182" cy="901136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A2BBE4A0-B6B7-A966-F943-4CED8A79A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7342351">
                  <a:off x="5262999" y="1563662"/>
                  <a:ext cx="429355" cy="429354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73461C5D-7E00-F2BF-17C7-5A0A5EA2A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2746" y="1649408"/>
                  <a:ext cx="400110" cy="40011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8A76A42C-57E3-DB3A-F615-9AACC2A1E2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9028916">
                  <a:off x="5405838" y="1976493"/>
                  <a:ext cx="427960" cy="427960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4A55F42-7283-2A1D-2797-D8AF121421F5}"/>
                    </a:ext>
                  </a:extLst>
                </p:cNvPr>
                <p:cNvSpPr/>
                <p:nvPr/>
              </p:nvSpPr>
              <p:spPr>
                <a:xfrm>
                  <a:off x="5155674" y="1526373"/>
                  <a:ext cx="999182" cy="90113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B821EE-A26B-3422-C9EB-6A2E23933D64}"/>
                  </a:ext>
                </a:extLst>
              </p:cNvPr>
              <p:cNvSpPr/>
              <p:nvPr/>
            </p:nvSpPr>
            <p:spPr>
              <a:xfrm>
                <a:off x="6237531" y="426516"/>
                <a:ext cx="1918834" cy="12261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D72C3152-5A9C-0913-E9FC-A45E5BDA9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5483" y="3717214"/>
            <a:ext cx="799115" cy="7991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A7CD5EB-1EEA-99F2-5287-4F98662D7E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373" y="3717214"/>
            <a:ext cx="822468" cy="82246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D032B62-429E-CB61-FAEC-E275AE9DC4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404" y="3717214"/>
            <a:ext cx="830213" cy="830213"/>
          </a:xfrm>
          <a:prstGeom prst="rect">
            <a:avLst/>
          </a:prstGeom>
        </p:spPr>
      </p:pic>
      <p:sp>
        <p:nvSpPr>
          <p:cNvPr id="47" name="Arrow: Right 46">
            <a:extLst>
              <a:ext uri="{FF2B5EF4-FFF2-40B4-BE49-F238E27FC236}">
                <a16:creationId xmlns:a16="http://schemas.microsoft.com/office/drawing/2014/main" id="{83E7DB62-FE92-074A-B19D-7BDD50E30CF4}"/>
              </a:ext>
            </a:extLst>
          </p:cNvPr>
          <p:cNvSpPr/>
          <p:nvPr/>
        </p:nvSpPr>
        <p:spPr>
          <a:xfrm>
            <a:off x="6165566" y="3850667"/>
            <a:ext cx="358418" cy="289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797E47BF-CDEC-30C8-0A7A-490519CBE939}"/>
              </a:ext>
            </a:extLst>
          </p:cNvPr>
          <p:cNvSpPr/>
          <p:nvPr/>
        </p:nvSpPr>
        <p:spPr>
          <a:xfrm>
            <a:off x="7303731" y="3838950"/>
            <a:ext cx="358418" cy="289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73FDEEBF-C91B-E74F-25EB-6985AB945FD6}"/>
              </a:ext>
            </a:extLst>
          </p:cNvPr>
          <p:cNvSpPr/>
          <p:nvPr/>
        </p:nvSpPr>
        <p:spPr>
          <a:xfrm rot="10800000">
            <a:off x="7265230" y="4250184"/>
            <a:ext cx="358418" cy="28949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AE50F338-4F2B-067F-F4CB-7CBAD93A2045}"/>
              </a:ext>
            </a:extLst>
          </p:cNvPr>
          <p:cNvSpPr/>
          <p:nvPr/>
        </p:nvSpPr>
        <p:spPr>
          <a:xfrm rot="10800000">
            <a:off x="6144598" y="4221583"/>
            <a:ext cx="358418" cy="28949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7591A2-EC32-08DC-3593-83E5817DDED6}"/>
              </a:ext>
            </a:extLst>
          </p:cNvPr>
          <p:cNvSpPr txBox="1"/>
          <p:nvPr/>
        </p:nvSpPr>
        <p:spPr>
          <a:xfrm>
            <a:off x="202741" y="4285936"/>
            <a:ext cx="2325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Bookman Old Style" panose="02050604050505020204" pitchFamily="18" charset="0"/>
              </a:rPr>
              <a:t>Felipe F. Doria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40FD49-5B05-D8C1-DE42-03051339054C}"/>
              </a:ext>
            </a:extLst>
          </p:cNvPr>
          <p:cNvGrpSpPr/>
          <p:nvPr/>
        </p:nvGrpSpPr>
        <p:grpSpPr>
          <a:xfrm>
            <a:off x="7642294" y="1182456"/>
            <a:ext cx="642421" cy="695022"/>
            <a:chOff x="7614952" y="1163456"/>
            <a:chExt cx="901136" cy="91645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0774E9F-C214-2E6E-ECA0-4395FE263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14952" y="1163456"/>
              <a:ext cx="901136" cy="90113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34CCF8B-20C6-EA96-1DD5-CCAA7B604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5225508">
              <a:off x="7990211" y="1646285"/>
              <a:ext cx="433629" cy="433629"/>
            </a:xfrm>
            <a:prstGeom prst="rect">
              <a:avLst/>
            </a:prstGeom>
          </p:spPr>
        </p:pic>
      </p:grp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79E4BB79-1E06-A4D1-8BA5-FB078FD51423}"/>
              </a:ext>
            </a:extLst>
          </p:cNvPr>
          <p:cNvSpPr/>
          <p:nvPr/>
        </p:nvSpPr>
        <p:spPr>
          <a:xfrm rot="16200000">
            <a:off x="7646654" y="3366647"/>
            <a:ext cx="358418" cy="289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6C2D78FC-A2AD-ED7F-F21B-5BE75946C624}"/>
              </a:ext>
            </a:extLst>
          </p:cNvPr>
          <p:cNvSpPr/>
          <p:nvPr/>
        </p:nvSpPr>
        <p:spPr>
          <a:xfrm rot="5400000">
            <a:off x="8013651" y="3379952"/>
            <a:ext cx="358418" cy="28949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184CCF-6820-6FD2-008A-DFAE8928AC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700" y="2372817"/>
            <a:ext cx="931433" cy="931433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8CEDF23B-B35B-12D3-8469-1B68D07E4D60}"/>
              </a:ext>
            </a:extLst>
          </p:cNvPr>
          <p:cNvSpPr txBox="1"/>
          <p:nvPr/>
        </p:nvSpPr>
        <p:spPr>
          <a:xfrm>
            <a:off x="3529819" y="4378269"/>
            <a:ext cx="15802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Bookman Old Style" panose="02050604050505020204" pitchFamily="18" charset="0"/>
              </a:rPr>
              <a:t>March 13, 2026</a:t>
            </a:r>
          </a:p>
        </p:txBody>
      </p:sp>
      <p:sp>
        <p:nvSpPr>
          <p:cNvPr id="1027" name="Arrow: Right 1026">
            <a:extLst>
              <a:ext uri="{FF2B5EF4-FFF2-40B4-BE49-F238E27FC236}">
                <a16:creationId xmlns:a16="http://schemas.microsoft.com/office/drawing/2014/main" id="{563DCC2E-8FCD-9BC0-46DB-0B49071F142F}"/>
              </a:ext>
            </a:extLst>
          </p:cNvPr>
          <p:cNvSpPr/>
          <p:nvPr/>
        </p:nvSpPr>
        <p:spPr>
          <a:xfrm rot="16200000">
            <a:off x="7646654" y="2044268"/>
            <a:ext cx="358418" cy="289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8" name="Arrow: Right 1027">
            <a:extLst>
              <a:ext uri="{FF2B5EF4-FFF2-40B4-BE49-F238E27FC236}">
                <a16:creationId xmlns:a16="http://schemas.microsoft.com/office/drawing/2014/main" id="{351ABFAA-E6AF-E672-56A8-792579CC0A6C}"/>
              </a:ext>
            </a:extLst>
          </p:cNvPr>
          <p:cNvSpPr/>
          <p:nvPr/>
        </p:nvSpPr>
        <p:spPr>
          <a:xfrm rot="5400000">
            <a:off x="8013651" y="2057573"/>
            <a:ext cx="358418" cy="28949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9D76B2-0206-702A-0522-18F4FCDF010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sz="27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AVAA: Learning German from Real Conversations</a:t>
            </a:r>
            <a:endParaRPr lang="en-AU" dirty="0">
              <a:solidFill>
                <a:schemeClr val="bg2">
                  <a:lumMod val="40000"/>
                  <a:lumOff val="6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35329" y="1641966"/>
            <a:ext cx="3357060" cy="290763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700" b="1" dirty="0">
                <a:latin typeface="Bookman Old Style" panose="02050604050505020204" pitchFamily="18" charset="0"/>
              </a:rPr>
              <a:t>The Problem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AU" sz="1600" b="1" dirty="0">
              <a:latin typeface="Bookman Old Style" panose="02050604050505020204" pitchFamily="18" charset="0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AU" sz="1600" b="1" dirty="0">
              <a:latin typeface="Bookman Old Style" panose="02050604050505020204" pitchFamily="18" charset="0"/>
            </a:endParaRP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Bookman Old Style" panose="02050604050505020204" pitchFamily="18" charset="0"/>
              </a:rPr>
              <a:t>Textbooks are structured but artificial.</a:t>
            </a: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Bookman Old Style" panose="02050604050505020204" pitchFamily="18" charset="0"/>
              </a:rPr>
              <a:t>Real conversations are authentic too fast, too messy.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94BA37-8C42-B742-9BF6-69673791F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9" y="1767479"/>
            <a:ext cx="634670" cy="634670"/>
          </a:xfrm>
          <a:prstGeom prst="rect">
            <a:avLst/>
          </a:prstGeom>
        </p:spPr>
      </p:pic>
      <p:sp>
        <p:nvSpPr>
          <p:cNvPr id="9" name="Google Shape;62;p14">
            <a:extLst>
              <a:ext uri="{FF2B5EF4-FFF2-40B4-BE49-F238E27FC236}">
                <a16:creationId xmlns:a16="http://schemas.microsoft.com/office/drawing/2014/main" id="{46402C31-7D2A-74CC-B41A-9B4DBE48C7E2}"/>
              </a:ext>
            </a:extLst>
          </p:cNvPr>
          <p:cNvSpPr txBox="1">
            <a:spLocks/>
          </p:cNvSpPr>
          <p:nvPr/>
        </p:nvSpPr>
        <p:spPr>
          <a:xfrm>
            <a:off x="4391891" y="1288473"/>
            <a:ext cx="4287983" cy="35952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b="1" dirty="0">
                <a:latin typeface="Bookman Old Style" panose="02050604050505020204" pitchFamily="18" charset="0"/>
              </a:rPr>
              <a:t>The Solution</a:t>
            </a:r>
            <a:endParaRPr lang="en-US" sz="1600" b="1" dirty="0">
              <a:latin typeface="Bookman Old Style" panose="02050604050505020204" pitchFamily="18" charset="0"/>
            </a:endParaRPr>
          </a:p>
          <a:p>
            <a:pPr marL="0" indent="0" algn="ctr">
              <a:buFont typeface="Arial"/>
              <a:buNone/>
            </a:pPr>
            <a:endParaRPr lang="en-US" sz="1600" b="1" dirty="0">
              <a:latin typeface="Bookman Old Style" panose="02050604050505020204" pitchFamily="18" charset="0"/>
            </a:endParaRP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Bookman Old Style" panose="02050604050505020204" pitchFamily="18" charset="0"/>
              </a:rPr>
              <a:t>AVAA retrieves relevant video transcripts and answers in context.</a:t>
            </a: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endParaRPr lang="en-US" sz="1600" dirty="0">
              <a:latin typeface="Bookman Old Style" panose="02050604050505020204" pitchFamily="18" charset="0"/>
            </a:endParaRP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Bookman Old Style" panose="02050604050505020204" pitchFamily="18" charset="0"/>
              </a:rPr>
              <a:t>YouTube → grammar, examples, and exercises.</a:t>
            </a: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endParaRPr lang="en-US" sz="1600" dirty="0">
              <a:latin typeface="Bookman Old Style" panose="02050604050505020204" pitchFamily="18" charset="0"/>
            </a:endParaRP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Bookman Old Style" panose="02050604050505020204" pitchFamily="18" charset="0"/>
              </a:rPr>
              <a:t>Dynamical quizzes with AI grading.</a:t>
            </a: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endParaRPr lang="en-US" sz="1600" dirty="0">
              <a:latin typeface="Bookman Old Style" panose="02050604050505020204" pitchFamily="18" charset="0"/>
            </a:endParaRP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Bookman Old Style" panose="02050604050505020204" pitchFamily="18" charset="0"/>
              </a:rPr>
              <a:t>Multi-Modal by Design.</a:t>
            </a: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endParaRPr lang="en-US" sz="1600" dirty="0">
              <a:latin typeface="Bookman Old Style" panose="02050604050505020204" pitchFamily="18" charset="0"/>
            </a:endParaRPr>
          </a:p>
          <a:p>
            <a:pPr marL="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Bookman Old Style" panose="02050604050505020204" pitchFamily="18" charset="0"/>
              </a:rPr>
              <a:t>Local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3D545-E5FF-168A-4689-F0652CDAB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405" y="3842994"/>
            <a:ext cx="706609" cy="706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7EE28A-05E2-E88F-BE60-0F07E30EB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7864" y="3913565"/>
            <a:ext cx="786509" cy="7865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186984"/>
            <a:ext cx="4170242" cy="1021239"/>
          </a:xfrm>
          <a:solidFill>
            <a:schemeClr val="tx1"/>
          </a:solidFill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From Query to Answer: Agent, Tool &amp; Hybrid Retrieval</a:t>
            </a:r>
            <a:endParaRPr lang="en-AU" sz="2600" dirty="0">
              <a:solidFill>
                <a:schemeClr val="bg2">
                  <a:lumMod val="40000"/>
                  <a:lumOff val="6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4294967295"/>
          </p:nvPr>
        </p:nvSpPr>
        <p:spPr>
          <a:xfrm>
            <a:off x="311699" y="1208223"/>
            <a:ext cx="4170243" cy="3748293"/>
          </a:xfrm>
          <a:solidFill>
            <a:schemeClr val="tx1"/>
          </a:solidFill>
        </p:spPr>
        <p:txBody>
          <a:bodyPr spcFirstLastPara="1" lIns="91425" tIns="91425" rIns="91425" bIns="91425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AU" sz="1600" dirty="0" err="1">
                <a:latin typeface="Bookman Old Style" panose="02050604050505020204" pitchFamily="18" charset="0"/>
              </a:rPr>
              <a:t>LangChain</a:t>
            </a:r>
            <a:r>
              <a:rPr lang="en-AU" sz="1600" dirty="0">
                <a:latin typeface="Bookman Old Style" panose="02050604050505020204" pitchFamily="18" charset="0"/>
              </a:rPr>
              <a:t> Agent orchestrates reasoning, maintains conversation memory.</a:t>
            </a:r>
          </a:p>
          <a:p>
            <a:pPr algn="just">
              <a:lnSpc>
                <a:spcPct val="100000"/>
              </a:lnSpc>
            </a:pPr>
            <a:endParaRPr lang="en-AU" sz="1600" dirty="0"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AU" sz="1600" dirty="0">
                <a:latin typeface="Bookman Old Style" panose="02050604050505020204" pitchFamily="18" charset="0"/>
              </a:rPr>
              <a:t>Single Custom Tool encapsulates retrieval + generation.</a:t>
            </a:r>
          </a:p>
          <a:p>
            <a:pPr algn="just">
              <a:lnSpc>
                <a:spcPct val="100000"/>
              </a:lnSpc>
            </a:pPr>
            <a:endParaRPr lang="en-AU" sz="1600" dirty="0"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AU" sz="1600" dirty="0">
                <a:latin typeface="Bookman Old Style" panose="02050604050505020204" pitchFamily="18" charset="0"/>
              </a:rPr>
              <a:t>Hybrid Retrieval, BM25 keyword search + dense vector search.</a:t>
            </a:r>
          </a:p>
          <a:p>
            <a:pPr algn="just">
              <a:lnSpc>
                <a:spcPct val="100000"/>
              </a:lnSpc>
            </a:pPr>
            <a:endParaRPr lang="en-AU" sz="1600" dirty="0"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AU" sz="1600" dirty="0">
                <a:latin typeface="Bookman Old Style" panose="02050604050505020204" pitchFamily="18" charset="0"/>
              </a:rPr>
              <a:t>Retrieved documents cleaned and injected into LLM prompt.</a:t>
            </a:r>
          </a:p>
          <a:p>
            <a:pPr algn="just">
              <a:lnSpc>
                <a:spcPct val="100000"/>
              </a:lnSpc>
            </a:pPr>
            <a:endParaRPr lang="en-AU" sz="1600" dirty="0">
              <a:latin typeface="Bookman Old Style" panose="020506040505050202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AU" sz="1600" dirty="0">
                <a:latin typeface="Bookman Old Style" panose="02050604050505020204" pitchFamily="18" charset="0"/>
              </a:rPr>
              <a:t>Four Modes, One Engine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B660A-7304-F783-8B02-CE1D0C87E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058" y="330777"/>
            <a:ext cx="4352318" cy="44819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329C02C-F6E4-2815-7EC6-7F256E27D12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Scraping, Chunking, Embedding, Storing</a:t>
            </a:r>
            <a:endParaRPr lang="en-AU" dirty="0">
              <a:solidFill>
                <a:schemeClr val="bg2">
                  <a:lumMod val="40000"/>
                  <a:lumOff val="6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2216727" y="2168236"/>
            <a:ext cx="6878782" cy="290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indent="0">
              <a:buNone/>
            </a:pPr>
            <a:r>
              <a:rPr lang="en-AU" sz="6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4. Storage in Vector DB</a:t>
            </a:r>
          </a:p>
          <a:p>
            <a:pPr marL="114300" indent="0">
              <a:buNone/>
            </a:pPr>
            <a:r>
              <a:rPr lang="en-AU" sz="6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Database: </a:t>
            </a: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`</a:t>
            </a:r>
            <a:r>
              <a:rPr lang="en-AU" sz="64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ChromaDB</a:t>
            </a: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`</a:t>
            </a:r>
          </a:p>
          <a:p>
            <a:pPr marL="114300" indent="0">
              <a:buNone/>
            </a:pP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Collection: `easy_german_a1_multi`</a:t>
            </a:r>
          </a:p>
          <a:p>
            <a:pPr marL="114300" indent="0">
              <a:buNone/>
            </a:pPr>
            <a:r>
              <a:rPr lang="en-AU" sz="6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Stored elements:</a:t>
            </a:r>
          </a:p>
          <a:p>
            <a:pPr marL="114300" indent="0">
              <a:buNone/>
            </a:pP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Document: The merged transcript segment.</a:t>
            </a:r>
          </a:p>
          <a:p>
            <a:pPr marL="114300" indent="0">
              <a:buNone/>
            </a:pP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Embeddings:`paraphrase-multilingual-MiniLM-L12-v2`.</a:t>
            </a:r>
          </a:p>
          <a:p>
            <a:pPr marL="114300" indent="0">
              <a:buNone/>
            </a:pP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IDs: Unique IDs in the format `"{</a:t>
            </a:r>
            <a:r>
              <a:rPr lang="en-AU" sz="64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video_id</a:t>
            </a: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}_{</a:t>
            </a:r>
            <a:r>
              <a:rPr lang="en-AU" sz="64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chunk_index</a:t>
            </a: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}"`.</a:t>
            </a:r>
          </a:p>
          <a:p>
            <a:pPr marL="114300" indent="0">
              <a:buNone/>
            </a:pPr>
            <a:r>
              <a:rPr lang="en-AU" sz="6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Metadata:</a:t>
            </a: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 `</a:t>
            </a:r>
            <a:r>
              <a:rPr lang="en-AU" sz="64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video_id</a:t>
            </a: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` – YouTube video ID</a:t>
            </a:r>
          </a:p>
          <a:p>
            <a:pPr marL="114300" indent="0">
              <a:buNone/>
            </a:pP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	    `title` – Video title</a:t>
            </a:r>
          </a:p>
          <a:p>
            <a:pPr marL="114300" indent="0">
              <a:buNone/>
            </a:pP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	    `lang` – Language of the transcript (`de`)</a:t>
            </a:r>
          </a:p>
          <a:p>
            <a:pPr marL="114300" indent="0">
              <a:buNone/>
            </a:pP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	    `start` &amp; `end` – Timestamps of the chunk</a:t>
            </a:r>
          </a:p>
          <a:p>
            <a:pPr marL="114300" indent="0">
              <a:buNone/>
            </a:pPr>
            <a:r>
              <a:rPr lang="en-AU" sz="64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	    `playlist` – Playlist identifier (`easy_german_a1`)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2BF7C-7EF4-4241-BDEC-99886035A72C}"/>
              </a:ext>
            </a:extLst>
          </p:cNvPr>
          <p:cNvSpPr txBox="1"/>
          <p:nvPr/>
        </p:nvSpPr>
        <p:spPr>
          <a:xfrm>
            <a:off x="173208" y="960460"/>
            <a:ext cx="2930210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14300" indent="0" algn="just">
              <a:buNone/>
            </a:pPr>
            <a:r>
              <a:rPr lang="en-AU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1. Data Source</a:t>
            </a:r>
          </a:p>
          <a:p>
            <a:pPr marL="114300" indent="0" algn="just">
              <a:buNone/>
            </a:pPr>
            <a:r>
              <a:rPr lang="en-AU" sz="16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Primary source:</a:t>
            </a:r>
          </a:p>
          <a:p>
            <a:pPr marL="114300" indent="0">
              <a:buNone/>
            </a:pPr>
            <a:r>
              <a:rPr lang="en-AU" sz="1600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Videos transcripts from YouTube playlist “Easy German” (A1 level videos).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FA9ED-8553-EC50-7390-C9FE10B14142}"/>
              </a:ext>
            </a:extLst>
          </p:cNvPr>
          <p:cNvSpPr txBox="1"/>
          <p:nvPr/>
        </p:nvSpPr>
        <p:spPr>
          <a:xfrm>
            <a:off x="173208" y="2280412"/>
            <a:ext cx="2043519" cy="2800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14300" lvl="1"/>
            <a:r>
              <a:rPr lang="en-AU" sz="1600" b="1" dirty="0">
                <a:latin typeface="Bookman Old Style" panose="02050604050505020204" pitchFamily="18" charset="0"/>
              </a:rPr>
              <a:t>2. Data Retrieval</a:t>
            </a:r>
          </a:p>
          <a:p>
            <a:pPr marL="114300" lvl="1"/>
            <a:r>
              <a:rPr lang="en-AU" sz="1600" b="1" dirty="0">
                <a:latin typeface="Bookman Old Style" panose="02050604050505020204" pitchFamily="18" charset="0"/>
              </a:rPr>
              <a:t>Libraries:</a:t>
            </a:r>
          </a:p>
          <a:p>
            <a:pPr marL="400050" lvl="6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Bookman Old Style" panose="02050604050505020204" pitchFamily="18" charset="0"/>
              </a:rPr>
              <a:t>`</a:t>
            </a:r>
            <a:r>
              <a:rPr lang="en-AU" sz="1600" dirty="0" err="1">
                <a:latin typeface="Bookman Old Style" panose="02050604050505020204" pitchFamily="18" charset="0"/>
              </a:rPr>
              <a:t>youtube_transcript_api</a:t>
            </a:r>
            <a:r>
              <a:rPr lang="en-AU" sz="1600" dirty="0">
                <a:latin typeface="Bookman Old Style" panose="02050604050505020204" pitchFamily="18" charset="0"/>
              </a:rPr>
              <a:t>`.</a:t>
            </a:r>
          </a:p>
          <a:p>
            <a:pPr marL="400050" lvl="5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Bookman Old Style" panose="02050604050505020204" pitchFamily="18" charset="0"/>
              </a:rPr>
              <a:t>`</a:t>
            </a:r>
            <a:r>
              <a:rPr lang="en-AU" sz="1600" dirty="0" err="1">
                <a:latin typeface="Bookman Old Style" panose="02050604050505020204" pitchFamily="18" charset="0"/>
              </a:rPr>
              <a:t>yt-dlp</a:t>
            </a:r>
            <a:r>
              <a:rPr lang="en-AU" sz="1600" dirty="0">
                <a:latin typeface="Bookman Old Style" panose="02050604050505020204" pitchFamily="18" charset="0"/>
              </a:rPr>
              <a:t>`.</a:t>
            </a:r>
          </a:p>
          <a:p>
            <a:pPr marL="114300" lvl="1"/>
            <a:r>
              <a:rPr lang="en-AU" sz="1600" b="1" dirty="0">
                <a:latin typeface="Bookman Old Style" panose="02050604050505020204" pitchFamily="18" charset="0"/>
              </a:rPr>
              <a:t>Techniques:</a:t>
            </a:r>
          </a:p>
          <a:p>
            <a:pPr marL="400050" lvl="3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Bookman Old Style" panose="02050604050505020204" pitchFamily="18" charset="0"/>
              </a:rPr>
              <a:t>API fetching.</a:t>
            </a:r>
          </a:p>
          <a:p>
            <a:pPr marL="400050" lvl="3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Bookman Old Style" panose="02050604050505020204" pitchFamily="18" charset="0"/>
              </a:rPr>
              <a:t>Backoff strategy.</a:t>
            </a:r>
          </a:p>
          <a:p>
            <a:pPr marL="400050" lvl="3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Bookman Old Style" panose="02050604050505020204" pitchFamily="18" charset="0"/>
              </a:rPr>
              <a:t>CSV fallback.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D52804-BC48-4020-7825-3E8C9450CE1C}"/>
              </a:ext>
            </a:extLst>
          </p:cNvPr>
          <p:cNvGrpSpPr/>
          <p:nvPr/>
        </p:nvGrpSpPr>
        <p:grpSpPr>
          <a:xfrm>
            <a:off x="3103418" y="956972"/>
            <a:ext cx="5992091" cy="1214703"/>
            <a:chOff x="3103418" y="956972"/>
            <a:chExt cx="5992091" cy="121470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CF641C-7847-D873-68A9-09B12A9743A7}"/>
                </a:ext>
              </a:extLst>
            </p:cNvPr>
            <p:cNvSpPr txBox="1"/>
            <p:nvPr/>
          </p:nvSpPr>
          <p:spPr>
            <a:xfrm>
              <a:off x="3103418" y="956972"/>
              <a:ext cx="5992091" cy="10772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marL="114300" indent="0">
                <a:buNone/>
              </a:pPr>
              <a:r>
                <a:rPr lang="en-AU" sz="1600" b="1" dirty="0">
                  <a:latin typeface="Bookman Old Style" panose="02050604050505020204" pitchFamily="18" charset="0"/>
                </a:rPr>
                <a:t>3. Preprocessing</a:t>
              </a:r>
            </a:p>
            <a:p>
              <a:pPr marL="114300" indent="0">
                <a:buNone/>
              </a:pPr>
              <a:r>
                <a:rPr lang="en-AU" sz="1600" dirty="0">
                  <a:latin typeface="Bookman Old Style" panose="02050604050505020204" pitchFamily="18" charset="0"/>
                </a:rPr>
                <a:t>Transcript chunking and merging (300-900 characters).</a:t>
              </a:r>
            </a:p>
            <a:p>
              <a:pPr marL="114300" indent="0">
                <a:buNone/>
              </a:pPr>
              <a:r>
                <a:rPr lang="en-AU" sz="1600" dirty="0">
                  <a:latin typeface="Bookman Old Style" panose="02050604050505020204" pitchFamily="18" charset="0"/>
                </a:rPr>
                <a:t>Cleaning, removing empty lines and irrelevant metadata. Filter out very short chunks (&lt;300).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399B20-383E-8CBC-4F46-F0A5724A33B6}"/>
                </a:ext>
              </a:extLst>
            </p:cNvPr>
            <p:cNvSpPr/>
            <p:nvPr/>
          </p:nvSpPr>
          <p:spPr>
            <a:xfrm>
              <a:off x="3103418" y="2034190"/>
              <a:ext cx="5992091" cy="1374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D7AA7A-C056-6AFE-D3B1-E3211306A18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One agent to rule them all</a:t>
            </a:r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AU" sz="1300" b="1" dirty="0">
                <a:latin typeface="Bookman Old Style" panose="02050604050505020204" pitchFamily="18" charset="0"/>
              </a:rPr>
              <a:t>Core Components</a:t>
            </a:r>
            <a:endParaRPr lang="en-AU" sz="1300" dirty="0">
              <a:latin typeface="Bookman Old Style" panose="02050604050505020204" pitchFamily="18" charset="0"/>
            </a:endParaRPr>
          </a:p>
          <a:p>
            <a:pPr lvl="1"/>
            <a:r>
              <a:rPr lang="en-AU" sz="1300" dirty="0">
                <a:latin typeface="Bookman Old Style" panose="02050604050505020204" pitchFamily="18" charset="0"/>
              </a:rPr>
              <a:t>Single-tool agent: </a:t>
            </a:r>
            <a:r>
              <a:rPr lang="en-AU" sz="1300" b="1" dirty="0" err="1">
                <a:latin typeface="Bookman Old Style" panose="02050604050505020204" pitchFamily="18" charset="0"/>
              </a:rPr>
              <a:t>GermanTutorTool</a:t>
            </a:r>
            <a:endParaRPr lang="en-AU" sz="1300" dirty="0">
              <a:latin typeface="Bookman Old Style" panose="02050604050505020204" pitchFamily="18" charset="0"/>
            </a:endParaRPr>
          </a:p>
          <a:p>
            <a:pPr lvl="1"/>
            <a:r>
              <a:rPr lang="en-AU" sz="1300" b="1" dirty="0">
                <a:latin typeface="Bookman Old Style" panose="02050604050505020204" pitchFamily="18" charset="0"/>
              </a:rPr>
              <a:t>LLM</a:t>
            </a:r>
            <a:r>
              <a:rPr lang="en-AU" sz="1300" dirty="0">
                <a:latin typeface="Bookman Old Style" panose="02050604050505020204" pitchFamily="18" charset="0"/>
              </a:rPr>
              <a:t> handles responses; memory stores conversation history</a:t>
            </a:r>
          </a:p>
          <a:p>
            <a:pPr lvl="1"/>
            <a:r>
              <a:rPr lang="en-AU" sz="1300" b="1" dirty="0">
                <a:latin typeface="Bookman Old Style" panose="02050604050505020204" pitchFamily="18" charset="0"/>
              </a:rPr>
              <a:t>Retriever</a:t>
            </a:r>
            <a:r>
              <a:rPr lang="en-AU" sz="1300" dirty="0">
                <a:latin typeface="Bookman Old Style" panose="02050604050505020204" pitchFamily="18" charset="0"/>
              </a:rPr>
              <a:t> fetches relevant context from Vector DB</a:t>
            </a:r>
          </a:p>
          <a:p>
            <a:pPr marL="114300" indent="0">
              <a:buNone/>
            </a:pPr>
            <a:r>
              <a:rPr lang="en-AU" sz="1300" b="1" dirty="0">
                <a:latin typeface="Bookman Old Style" panose="02050604050505020204" pitchFamily="18" charset="0"/>
              </a:rPr>
              <a:t>Workflow</a:t>
            </a:r>
            <a:endParaRPr lang="en-AU" sz="1300" dirty="0">
              <a:latin typeface="Bookman Old Style" panose="02050604050505020204" pitchFamily="18" charset="0"/>
            </a:endParaRPr>
          </a:p>
          <a:p>
            <a:pPr lvl="1"/>
            <a:r>
              <a:rPr lang="en-AU" sz="1300" dirty="0">
                <a:latin typeface="Bookman Old Style" panose="02050604050505020204" pitchFamily="18" charset="0"/>
              </a:rPr>
              <a:t>User asks question → Memory + Retriever → Tool → LLM → Answer</a:t>
            </a:r>
          </a:p>
          <a:p>
            <a:pPr lvl="1"/>
            <a:r>
              <a:rPr lang="en-AU" sz="1300" dirty="0">
                <a:latin typeface="Bookman Old Style" panose="02050604050505020204" pitchFamily="18" charset="0"/>
              </a:rPr>
              <a:t>Structured prompt ensures:</a:t>
            </a:r>
          </a:p>
          <a:p>
            <a:pPr lvl="2"/>
            <a:r>
              <a:rPr lang="en-AU" sz="1300" dirty="0">
                <a:latin typeface="Bookman Old Style" panose="02050604050505020204" pitchFamily="18" charset="0"/>
              </a:rPr>
              <a:t>Clear explanations</a:t>
            </a:r>
          </a:p>
          <a:p>
            <a:pPr lvl="2"/>
            <a:r>
              <a:rPr lang="en-AU" sz="1300" dirty="0">
                <a:latin typeface="Bookman Old Style" panose="02050604050505020204" pitchFamily="18" charset="0"/>
              </a:rPr>
              <a:t>Context examples</a:t>
            </a:r>
          </a:p>
          <a:p>
            <a:pPr lvl="2"/>
            <a:r>
              <a:rPr lang="en-AU" sz="1300" dirty="0">
                <a:latin typeface="Bookman Old Style" panose="02050604050505020204" pitchFamily="18" charset="0"/>
              </a:rPr>
              <a:t>German + English answers</a:t>
            </a:r>
          </a:p>
          <a:p>
            <a:pPr lvl="2"/>
            <a:r>
              <a:rPr lang="en-AU" sz="1300" dirty="0">
                <a:latin typeface="Bookman Old Style" panose="02050604050505020204" pitchFamily="18" charset="0"/>
              </a:rPr>
              <a:t>Follow-up question</a:t>
            </a:r>
          </a:p>
          <a:p>
            <a:pPr marL="114300" indent="0">
              <a:buNone/>
            </a:pPr>
            <a:r>
              <a:rPr lang="en-AU" sz="1300" b="1" dirty="0">
                <a:latin typeface="Bookman Old Style" panose="02050604050505020204" pitchFamily="18" charset="0"/>
              </a:rPr>
              <a:t>Features</a:t>
            </a:r>
            <a:endParaRPr lang="en-AU" sz="1300" dirty="0">
              <a:latin typeface="Bookman Old Style" panose="02050604050505020204" pitchFamily="18" charset="0"/>
            </a:endParaRPr>
          </a:p>
          <a:p>
            <a:pPr lvl="1"/>
            <a:r>
              <a:rPr lang="en-AU" sz="1300" dirty="0">
                <a:latin typeface="Bookman Old Style" panose="02050604050505020204" pitchFamily="18" charset="0"/>
              </a:rPr>
              <a:t>Context-aware, multi-turn conversations</a:t>
            </a:r>
          </a:p>
          <a:p>
            <a:pPr lvl="1"/>
            <a:r>
              <a:rPr lang="en-AU" sz="1300" dirty="0">
                <a:latin typeface="Bookman Old Style" panose="02050604050505020204" pitchFamily="18" charset="0"/>
              </a:rPr>
              <a:t>Beginner-friendly prompts (A1 level)</a:t>
            </a:r>
          </a:p>
          <a:p>
            <a:pPr lvl="1"/>
            <a:r>
              <a:rPr lang="en-AU" sz="1300" dirty="0">
                <a:latin typeface="Bookman Old Style" panose="02050604050505020204" pitchFamily="18" charset="0"/>
              </a:rPr>
              <a:t>Hybrid retrieval + LLM reasoning</a:t>
            </a:r>
          </a:p>
          <a:p>
            <a:pPr lvl="1"/>
            <a:r>
              <a:rPr lang="en-AU" sz="1300" dirty="0">
                <a:latin typeface="Bookman Old Style" panose="02050604050505020204" pitchFamily="18" charset="0"/>
              </a:rPr>
              <a:t>Scalable: can add vocab/quiz/grammar modes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CFB925-5553-2031-3E33-10670CEF3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892" y="2732947"/>
            <a:ext cx="1965528" cy="1965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A40129-D45C-0DBD-E3D8-7B78EACE54D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One tool to bind them</a:t>
            </a:r>
            <a:endParaRPr dirty="0">
              <a:solidFill>
                <a:schemeClr val="bg2">
                  <a:lumMod val="40000"/>
                  <a:lumOff val="6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78955" cy="3772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AU" sz="1700" b="1" dirty="0" err="1">
                <a:latin typeface="Bookman Old Style" panose="02050604050505020204" pitchFamily="18" charset="0"/>
              </a:rPr>
              <a:t>GermanTutorTool</a:t>
            </a:r>
            <a:r>
              <a:rPr lang="en-AU" sz="1700" b="1" dirty="0">
                <a:latin typeface="Bookman Old Style" panose="02050604050505020204" pitchFamily="18" charset="0"/>
              </a:rPr>
              <a:t> </a:t>
            </a:r>
          </a:p>
          <a:p>
            <a:pPr marL="0" lvl="0" indent="0" algn="just">
              <a:buNone/>
            </a:pPr>
            <a:endParaRPr lang="en-US" sz="1700" b="1" dirty="0">
              <a:latin typeface="Bookman Old Style" panose="02050604050505020204" pitchFamily="18" charset="0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700" dirty="0">
                <a:latin typeface="Bookman Old Style" panose="02050604050505020204" pitchFamily="18" charset="0"/>
              </a:rPr>
              <a:t>Purpose to direct LLM tutor for German learners (A1–C2)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700" dirty="0">
                <a:latin typeface="Bookman Old Style" panose="02050604050505020204" pitchFamily="18" charset="0"/>
              </a:rPr>
              <a:t>Fetches relevant context/examples automatically.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700" dirty="0">
                <a:latin typeface="Bookman Old Style" panose="02050604050505020204" pitchFamily="18" charset="0"/>
              </a:rPr>
              <a:t>Prompt ensures: clear answers, reasoning, examples from context, 2–3 German sentences with English translations, follow-up question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700" dirty="0">
                <a:latin typeface="Bookman Old Style" panose="02050604050505020204" pitchFamily="18" charset="0"/>
              </a:rPr>
              <a:t>Responds in learner-friendly English + German, no sources cited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419AB-E6A5-D005-5CD1-BE3710FB2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30" y="2140514"/>
            <a:ext cx="3774106" cy="27847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1116D5-E4AF-BECE-4142-074B8DB334B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RAGAS 58 % of Answer relevancy and Manual checking with 86 % of correctness</a:t>
            </a:r>
            <a:endParaRPr dirty="0">
              <a:solidFill>
                <a:schemeClr val="bg2">
                  <a:lumMod val="40000"/>
                  <a:lumOff val="6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353366"/>
            <a:ext cx="387237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>
                <a:latin typeface="Bookman Old Style" panose="02050604050505020204" pitchFamily="18" charset="0"/>
              </a:rPr>
              <a:t>RAGAS Pipeline</a:t>
            </a:r>
          </a:p>
          <a:p>
            <a:pPr marL="800100" lvl="1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Generate answers from the agent.</a:t>
            </a:r>
          </a:p>
          <a:p>
            <a:pPr marL="800100" lvl="1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Store results in a dataset with:</a:t>
            </a:r>
          </a:p>
          <a:p>
            <a:pPr marL="1257300" lvl="2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Question</a:t>
            </a:r>
          </a:p>
          <a:p>
            <a:pPr marL="1257300" lvl="2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Agent answer</a:t>
            </a:r>
          </a:p>
          <a:p>
            <a:pPr marL="1257300" lvl="2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Ground truth </a:t>
            </a:r>
          </a:p>
          <a:p>
            <a:pPr marL="1257300" lvl="2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Answer</a:t>
            </a:r>
          </a:p>
          <a:p>
            <a:pPr marL="1257300" lvl="2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Retrieved context</a:t>
            </a:r>
          </a:p>
          <a:p>
            <a:pPr marL="1257300" lvl="2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Clean answers</a:t>
            </a:r>
          </a:p>
          <a:p>
            <a:pPr marL="1257300" lvl="2">
              <a:buAutoNum type="arabicPeriod"/>
            </a:pPr>
            <a:r>
              <a:rPr lang="en-AU" dirty="0">
                <a:latin typeface="Bookman Old Style" panose="02050604050505020204" pitchFamily="18" charset="0"/>
              </a:rPr>
              <a:t>Run RAGAS.</a:t>
            </a:r>
            <a:endParaRPr dirty="0"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37183-AB8F-93F8-D8ED-6B7801FEC841}"/>
              </a:ext>
            </a:extLst>
          </p:cNvPr>
          <p:cNvSpPr txBox="1"/>
          <p:nvPr/>
        </p:nvSpPr>
        <p:spPr>
          <a:xfrm>
            <a:off x="762000" y="4446600"/>
            <a:ext cx="337358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1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Answer Relevancy: 58 %</a:t>
            </a:r>
          </a:p>
          <a:p>
            <a:r>
              <a:rPr lang="en-AU" sz="1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Context Recall: 49 %</a:t>
            </a: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AEB27381-373C-F507-84E1-00730BD8FD82}"/>
              </a:ext>
            </a:extLst>
          </p:cNvPr>
          <p:cNvSpPr txBox="1">
            <a:spLocks/>
          </p:cNvSpPr>
          <p:nvPr/>
        </p:nvSpPr>
        <p:spPr>
          <a:xfrm>
            <a:off x="4433456" y="1353366"/>
            <a:ext cx="447501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AU" dirty="0">
                <a:latin typeface="Bookman Old Style" panose="02050604050505020204" pitchFamily="18" charset="0"/>
              </a:rPr>
              <a:t>Manual Evaluation</a:t>
            </a:r>
          </a:p>
          <a:p>
            <a:pPr marL="342900">
              <a:buFont typeface="Arial"/>
              <a:buAutoNum type="arabicPeriod"/>
            </a:pPr>
            <a:r>
              <a:rPr lang="en-US" dirty="0">
                <a:latin typeface="Bookman Old Style" panose="02050604050505020204" pitchFamily="18" charset="0"/>
              </a:rPr>
              <a:t>Manually reviewed all 99 answers.</a:t>
            </a:r>
          </a:p>
          <a:p>
            <a:pPr marL="800100" lvl="1">
              <a:buFont typeface="Arial"/>
              <a:buAutoNum type="arabicPeriod"/>
            </a:pPr>
            <a:r>
              <a:rPr lang="en-US" dirty="0">
                <a:latin typeface="Bookman Old Style" panose="02050604050505020204" pitchFamily="18" charset="0"/>
              </a:rPr>
              <a:t>Binary evaluation (Correct / Incorrect):</a:t>
            </a:r>
          </a:p>
          <a:p>
            <a:pPr marL="800100" lvl="1">
              <a:buFont typeface="Arial"/>
              <a:buAutoNum type="arabicPeriod"/>
            </a:pPr>
            <a:r>
              <a:rPr lang="en-US" dirty="0">
                <a:latin typeface="Bookman Old Style" panose="02050604050505020204" pitchFamily="18" charset="0"/>
              </a:rPr>
              <a:t>Error breakdown: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65230F-8460-C984-80E7-62F24E97C945}"/>
              </a:ext>
            </a:extLst>
          </p:cNvPr>
          <p:cNvSpPr txBox="1"/>
          <p:nvPr/>
        </p:nvSpPr>
        <p:spPr>
          <a:xfrm>
            <a:off x="5441372" y="4446599"/>
            <a:ext cx="251460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1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Accuracy: 73 %</a:t>
            </a:r>
          </a:p>
          <a:p>
            <a:r>
              <a:rPr lang="en-AU" sz="1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Correctness: 86 %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A30297-8392-F9E9-6595-E8A1B56D1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786794"/>
              </p:ext>
            </p:extLst>
          </p:nvPr>
        </p:nvGraphicFramePr>
        <p:xfrm>
          <a:off x="5430981" y="2657310"/>
          <a:ext cx="2604656" cy="1435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328">
                  <a:extLst>
                    <a:ext uri="{9D8B030D-6E8A-4147-A177-3AD203B41FA5}">
                      <a16:colId xmlns:a16="http://schemas.microsoft.com/office/drawing/2014/main" val="3940677077"/>
                    </a:ext>
                  </a:extLst>
                </a:gridCol>
                <a:gridCol w="1302328">
                  <a:extLst>
                    <a:ext uri="{9D8B030D-6E8A-4147-A177-3AD203B41FA5}">
                      <a16:colId xmlns:a16="http://schemas.microsoft.com/office/drawing/2014/main" val="2099381086"/>
                    </a:ext>
                  </a:extLst>
                </a:gridCol>
              </a:tblGrid>
              <a:tr h="190101">
                <a:tc>
                  <a:txBody>
                    <a:bodyPr/>
                    <a:lstStyle/>
                    <a:p>
                      <a:pPr algn="ctr"/>
                      <a:r>
                        <a:rPr lang="en-AU" sz="1100" dirty="0">
                          <a:latin typeface="Bookman Old Style" panose="02050604050505020204" pitchFamily="18" charset="0"/>
                        </a:rP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dirty="0">
                          <a:latin typeface="Bookman Old Style" panose="02050604050505020204" pitchFamily="18" charset="0"/>
                        </a:rP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28110"/>
                  </a:ext>
                </a:extLst>
              </a:tr>
              <a:tr h="323172">
                <a:tc>
                  <a:txBody>
                    <a:bodyPr/>
                    <a:lstStyle/>
                    <a:p>
                      <a:pPr algn="ctr"/>
                      <a:r>
                        <a:rPr lang="en-AU" sz="1100" dirty="0">
                          <a:latin typeface="Bookman Old Style" panose="02050604050505020204" pitchFamily="18" charset="0"/>
                        </a:rPr>
                        <a:t>Truncated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dirty="0">
                          <a:latin typeface="Bookman Old Style" panose="02050604050505020204" pitchFamily="18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32701"/>
                  </a:ext>
                </a:extLst>
              </a:tr>
              <a:tr h="323172">
                <a:tc>
                  <a:txBody>
                    <a:bodyPr/>
                    <a:lstStyle/>
                    <a:p>
                      <a:pPr algn="ctr"/>
                      <a:r>
                        <a:rPr lang="en-AU" sz="1100" dirty="0">
                          <a:latin typeface="Bookman Old Style" panose="02050604050505020204" pitchFamily="18" charset="0"/>
                        </a:rPr>
                        <a:t>Incorrect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dirty="0">
                          <a:latin typeface="Bookman Old Style" panose="020506040505050202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631684"/>
                  </a:ext>
                </a:extLst>
              </a:tr>
              <a:tr h="323172">
                <a:tc>
                  <a:txBody>
                    <a:bodyPr/>
                    <a:lstStyle/>
                    <a:p>
                      <a:pPr algn="ctr"/>
                      <a:r>
                        <a:rPr lang="en-AU" sz="1100" dirty="0">
                          <a:latin typeface="Bookman Old Style" panose="02050604050505020204" pitchFamily="18" charset="0"/>
                        </a:rPr>
                        <a:t>Question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dirty="0">
                          <a:latin typeface="Bookman Old Style" panose="020506040505050202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7001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4747BB-5000-E8A3-06B7-1142F2076DA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0DA630-25DB-EC96-AFEC-07F9F1C19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826" y="86781"/>
            <a:ext cx="4035917" cy="2131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4E07F6-EC0B-F6F1-6CE4-C6CC19946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4" y="2399497"/>
            <a:ext cx="4274127" cy="2435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997F6F-876A-FE53-DDB6-38BA634E5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377" y="2399497"/>
            <a:ext cx="4343427" cy="23712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063F86-A0CF-DFEB-4319-BD9891F24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54" y="182770"/>
            <a:ext cx="4162466" cy="2086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ookman Old Style" panose="02050604050505020204" pitchFamily="18" charset="0"/>
              </a:rPr>
              <a:t>Demo</a:t>
            </a:r>
            <a:endParaRPr dirty="0">
              <a:latin typeface="Bookman Old Style" panose="02050604050505020204" pitchFamily="18" charset="0"/>
            </a:endParaRPr>
          </a:p>
        </p:txBody>
      </p:sp>
      <p:pic>
        <p:nvPicPr>
          <p:cNvPr id="4" name="Exploring the AVA German Tutor_ A Comprehensive Language Learning Tool_speed_1.5x">
            <a:hlinkClick r:id="" action="ppaction://media"/>
            <a:extLst>
              <a:ext uri="{FF2B5EF4-FFF2-40B4-BE49-F238E27FC236}">
                <a16:creationId xmlns:a16="http://schemas.microsoft.com/office/drawing/2014/main" id="{39B5CF66-D7B3-27A0-B7B3-19618D2A1C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-1"/>
            <a:ext cx="9144000" cy="5195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1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559</Words>
  <Application>Microsoft Office PowerPoint</Application>
  <PresentationFormat>On-screen Show (16:9)</PresentationFormat>
  <Paragraphs>113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Bookman Old Style</vt:lpstr>
      <vt:lpstr>Simple Light</vt:lpstr>
      <vt:lpstr>AVAA German</vt:lpstr>
      <vt:lpstr>AVAA: Learning German from Real Conversations</vt:lpstr>
      <vt:lpstr>From Query to Answer: Agent, Tool &amp; Hybrid Retrieval</vt:lpstr>
      <vt:lpstr>Scraping, Chunking, Embedding, Storing</vt:lpstr>
      <vt:lpstr>One agent to rule them all</vt:lpstr>
      <vt:lpstr>One tool to bind them</vt:lpstr>
      <vt:lpstr>RAGAS 58 % of Answer relevancy and Manual checking with 86 % of correctness</vt:lpstr>
      <vt:lpstr>PowerPoint Presentation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Felipe França Doria</dc:creator>
  <cp:lastModifiedBy>Felipe França Doria</cp:lastModifiedBy>
  <cp:revision>7</cp:revision>
  <dcterms:modified xsi:type="dcterms:W3CDTF">2026-03-13T08:45:54Z</dcterms:modified>
</cp:coreProperties>
</file>